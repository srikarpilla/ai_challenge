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Key message: this isn't keyword matching, it's semantic role fit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5 failure modes are all present in the 100k candidate dataset. Keyword matching promotes every one of them. Our system avoids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runs entirely offline: no API calls, no GPU, no Python ML dependencies beyond standard library. The JD config is fully externalised so changing the role takes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principle: honeypots are eliminated before scoring, not scored low. This guarantees a 0% honeypot rate in the output regardless of how many are in the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title_role_fit and must_have_skills carry 55% of the weight. Location and notice carry behavioral signals. The availability block (16%) is a composite of 6 Redrob platform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anti-keyword-stuffing mechanism: assessment scores override self-declared proficiency. Candidates with 'advanced RAG' skill but a 38/100 platform test get scored far lower than someone with 'intermediate' but a 72/100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multipliers not hard zeros? A candidate who worked at TCS for 3 years and then moved to Sarvam AI for 4 years is different from someone who spent 12 years only at IT services firms. The multiplier penalises the former gently and the latter severely.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top-10 candidates are genuine AI/ML specialists with production retrieval experience, located in India, open to work, and available quickly. Zero consulting-only or narrow-specialist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sandbox is a single Flask file with zero build steps. Run 'python sandbox/app.py', open localhost:5000. The AI explanation calls Claude claude-sonnet-4-6 only on-demand, so ranking itself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Key ask from the judges: does this system produce a shortlist a recruiter can trust? Yes — it's explainable, fast, adversarially robust, and backed by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5C6FF0">
              <a:alpha val="18000"/>
            </a:srgbClr>
          </a:solidFill>
          <a:ln w="12700">
            <a:solidFill>
              <a:srgbClr val="5C6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3200400" cy="320040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RedrRob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Ranker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Data &amp; AI Challenge  ·  Submission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100,000 candidates for an applied ML Search-Ranking role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a great recruiter would — not by keywords, but by understanding.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Keyword Ranking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ATS filters fail — and what this system does differently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Keyword Stuffers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682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Non-ML candidates with RAG/FAISS/PyTorch in skills — but a HR Manager career history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Hype Adopters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5192" y="1682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added LangChain/ChatGPT, but zero retrieval depth pre-2023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Consulting Lifers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at TCS/Infosys/Wipro, no product ML exposure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423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Narrow Specialists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Computer Vision or Speech — but no NLP/IR overlap for this role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Honeypot Profiles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968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impossible: 'expert' skill with 0 months, career date mismatches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14600" y="3566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79192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Honeypot Profiles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79192" y="3968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impossible: 'expert' skill with 0 months, career date mismatches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pipeline: ~30 seconds on CPU, no GPU or network required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2103120"/>
          </a:xfrm>
          <a:prstGeom prst="roundRect">
            <a:avLst>
              <a:gd name="adj" fmla="val 7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527048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4533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529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13432" y="2468880"/>
            <a:ext cx="26517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30428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417320"/>
            <a:ext cx="1828800" cy="2103120"/>
          </a:xfrm>
          <a:prstGeom prst="roundRect">
            <a:avLst>
              <a:gd name="adj" fmla="val 7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27048"/>
            <a:ext cx="548640" cy="548640"/>
          </a:xfrm>
          <a:prstGeom prst="ellipse">
            <a:avLst/>
          </a:prstGeom>
          <a:solidFill>
            <a:srgbClr val="5C6FF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4533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1671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8529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signal groups,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62272" y="2468880"/>
            <a:ext cx="26517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30428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1828800" cy="2103120"/>
          </a:xfrm>
          <a:prstGeom prst="roundRect">
            <a:avLst>
              <a:gd name="adj" fmla="val 7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527048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54533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1671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8529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disqualifiers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1112" y="2468880"/>
            <a:ext cx="26517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30428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417320"/>
            <a:ext cx="1828800" cy="2103120"/>
          </a:xfrm>
          <a:prstGeom prst="roundRect">
            <a:avLst>
              <a:gd name="adj" fmla="val 7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1527048"/>
            <a:ext cx="548640" cy="548640"/>
          </a:xfrm>
          <a:prstGeom prst="ellipse">
            <a:avLst/>
          </a:prstGeom>
          <a:solidFill>
            <a:srgbClr val="3DCC91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154533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1671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8529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reasoning column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candidates → 2,929 honeypots removed → 97,071 scored → Top 100 output   |   Runtime: ~30s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Honeypot Elimination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2,929 structurally impossible profiles removed before any scoring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2893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proficiency + ≤2 months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23360" y="12893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stuffing — can't be expert-level with 2 months of use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746504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013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 skills claimed at 'expert'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0" y="18013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stuffing — real engineers are expert in 1-3 areas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duration vs. start/end dates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23360" y="23134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duration_months that contradicts actual calendar dates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70632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8254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YOE vs. sum of career history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23360" y="28254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 claimed but only 14 months of actual history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282696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is_current jobs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023360" y="3337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impossible — can't hold two roles simultaneously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496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end before start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0" y="38496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reversal — end_year &lt; start_year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306824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352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361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duration &gt; total YOE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023360" y="4361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skill for longer than the candidate has worked at 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honeypots in the final Top 100 shortlist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Feature Engineering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signal groups, all derived from structured data — no LLM calls during ranking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264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Role Fit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0" y="1517904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517904"/>
            <a:ext cx="5285232" cy="164592"/>
          </a:xfrm>
          <a:prstGeom prst="rect">
            <a:avLst/>
          </a:prstGeom>
          <a:solidFill>
            <a:srgbClr val="5C6FF0"/>
          </a:solidFill>
          <a:ln/>
        </p:spPr>
      </p:sp>
      <p:sp>
        <p:nvSpPr>
          <p:cNvPr id="7" name="Text 5"/>
          <p:cNvSpPr/>
          <p:nvPr/>
        </p:nvSpPr>
        <p:spPr>
          <a:xfrm>
            <a:off x="7735824" y="14264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0" y="14264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&amp; category weighted ML career years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Skills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084832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2084832"/>
            <a:ext cx="3798761" cy="16459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735824" y="19933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19933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· Vector DB · Eval · Python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Signals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651760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2651760"/>
            <a:ext cx="2642616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7735824" y="2560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560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 · response rate · notices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3218688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3218688"/>
            <a:ext cx="1486472" cy="164592"/>
          </a:xfrm>
          <a:prstGeom prst="rect">
            <a:avLst/>
          </a:prstGeom>
          <a:solidFill>
            <a:srgbClr val="3DCC91"/>
          </a:solidFill>
          <a:ln/>
        </p:spPr>
      </p:sp>
      <p:sp>
        <p:nvSpPr>
          <p:cNvPr id="22" name="Text 20"/>
          <p:cNvSpPr/>
          <p:nvPr/>
        </p:nvSpPr>
        <p:spPr>
          <a:xfrm>
            <a:off x="7735824" y="31272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C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3127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Pune/Noida=1.0 · Tier-2=0.8 · Intl=0.15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3785616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26" name="Shape 24"/>
          <p:cNvSpPr/>
          <p:nvPr/>
        </p:nvSpPr>
        <p:spPr>
          <a:xfrm>
            <a:off x="2377440" y="3785616"/>
            <a:ext cx="1321308" cy="1645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7735824" y="36941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694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curve, 5–9yr target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261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 Have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4352544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4352544"/>
            <a:ext cx="1156145" cy="1645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4" y="4261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2611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· GitHub · HR-tech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77440" y="4919472"/>
            <a:ext cx="5285232" cy="164592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4919472"/>
            <a:ext cx="825818" cy="16459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7735824" y="4828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4828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≤30d=1.0 · ≤60d=0.65 · &gt;90d=0.20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Defeating the Keyword Stuffer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calculate skill evidence strength — not just presence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evidence(skill) = 0.5 × self_report(proficiency, duration) + 0.5 × assessment_score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assessment score exists → down-weight self-report to 0.85×  (catches unverified 'advanced' proficiency)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5603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8437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788920"/>
            <a:ext cx="25603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090672" y="28437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Ranker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788920"/>
            <a:ext cx="3474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650992" y="284378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2560320" cy="475488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24612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skills[]  contains 'RAG'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0" y="3172968"/>
            <a:ext cx="2560320" cy="475488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6" name="Text 14"/>
          <p:cNvSpPr/>
          <p:nvPr/>
        </p:nvSpPr>
        <p:spPr>
          <a:xfrm>
            <a:off x="3090672" y="324612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score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72968"/>
            <a:ext cx="3474720" cy="475488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8" name="Text 16"/>
          <p:cNvSpPr/>
          <p:nvPr/>
        </p:nvSpPr>
        <p:spPr>
          <a:xfrm>
            <a:off x="5650992" y="3246120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proficiency + duration + assessment → evidence ≈ 0.1 if no backing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48456"/>
            <a:ext cx="2560320" cy="475488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7216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'expert' proficiency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17520" y="3648456"/>
            <a:ext cx="2560320" cy="475488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22" name="Text 20"/>
          <p:cNvSpPr/>
          <p:nvPr/>
        </p:nvSpPr>
        <p:spPr>
          <a:xfrm>
            <a:off x="3090672" y="37216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Max credit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3648456"/>
            <a:ext cx="3474720" cy="475488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24" name="Text 22"/>
          <p:cNvSpPr/>
          <p:nvPr/>
        </p:nvSpPr>
        <p:spPr>
          <a:xfrm>
            <a:off x="5650992" y="3721608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credit only if duration ≥18m AND assessment score present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23944"/>
            <a:ext cx="2560320" cy="475488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197096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score = 38/100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17520" y="4123944"/>
            <a:ext cx="2560320" cy="475488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8" name="Text 26"/>
          <p:cNvSpPr/>
          <p:nvPr/>
        </p:nvSpPr>
        <p:spPr>
          <a:xfrm>
            <a:off x="3090672" y="4197096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4123944"/>
            <a:ext cx="3474720" cy="475488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0" name="Text 28"/>
          <p:cNvSpPr/>
          <p:nvPr/>
        </p:nvSpPr>
        <p:spPr>
          <a:xfrm>
            <a:off x="5650992" y="4197096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even high self-report — capped at 0.5× the assessed value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599432"/>
            <a:ext cx="2560320" cy="475488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467258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title = HR Manager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17520" y="4599432"/>
            <a:ext cx="2560320" cy="475488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34" name="Text 32"/>
          <p:cNvSpPr/>
          <p:nvPr/>
        </p:nvSpPr>
        <p:spPr>
          <a:xfrm>
            <a:off x="3090672" y="467258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skills match → promoted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4599432"/>
            <a:ext cx="3474720" cy="475488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36" name="Text 34"/>
          <p:cNvSpPr/>
          <p:nvPr/>
        </p:nvSpPr>
        <p:spPr>
          <a:xfrm>
            <a:off x="5650992" y="467258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title_role_fit ≈ 0.05 → whole score floored before disqualifier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Scoring + Disqualifiers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 are multipliers, not hard zeros — graceful degradation for borderline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9888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3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081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×0.35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hype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63040" y="160934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LangChain/Prompt Engineering added recently, but zero retrieval depth before 2023. Catches the hype wave.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39696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3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579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×0.45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CV/Speech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63040" y="235915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Computer Vision or Speech engineer, but negligible NLP/IR overlap. Wrong specialisation for a search-ranking role.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889504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3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077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 career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310896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career at TCS/Infosys/Wipro/Accenture/etc. No product company ML exposure.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29584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639312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3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576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×0.60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584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63040" y="385876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language: 'academic lab', 'PhD thesis', 'research-only' — but no production deployment language.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279392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389120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3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4074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×0.25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334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must-have + no role fit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63040" y="4608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both the skill pillar AND the title-fit test. Almost certainly a keyword-stuffed non-ML profile.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shortlist from 100,000 candidates — pipeline validated against official checker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processed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1887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2,929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removed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3484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runtime (CPU)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1887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226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286000"/>
            <a:ext cx="3840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23134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" y="2286000"/>
            <a:ext cx="1325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" y="231343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2286000"/>
            <a:ext cx="169164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157984" y="231343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13048" y="2286000"/>
            <a:ext cx="233172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849624" y="231343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44768" y="2286000"/>
            <a:ext cx="123444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2313432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79208" y="2286000"/>
            <a:ext cx="804672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15784" y="2313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578608"/>
            <a:ext cx="384048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" y="26060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5528" y="2578608"/>
            <a:ext cx="132588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" y="260604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CAND_0052328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21408" y="2578608"/>
            <a:ext cx="16916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3" name="Text 31"/>
          <p:cNvSpPr/>
          <p:nvPr/>
        </p:nvSpPr>
        <p:spPr>
          <a:xfrm>
            <a:off x="2157984" y="260604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Banerjee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13048" y="2578608"/>
            <a:ext cx="233172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5" name="Text 33"/>
          <p:cNvSpPr/>
          <p:nvPr/>
        </p:nvSpPr>
        <p:spPr>
          <a:xfrm>
            <a:off x="3849624" y="260604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Eng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2578608"/>
            <a:ext cx="12344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260604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79208" y="2578608"/>
            <a:ext cx="804672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9" name="Text 37"/>
          <p:cNvSpPr/>
          <p:nvPr/>
        </p:nvSpPr>
        <p:spPr>
          <a:xfrm>
            <a:off x="7415784" y="2606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2820924"/>
            <a:ext cx="384048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41" name="Text 39"/>
          <p:cNvSpPr/>
          <p:nvPr/>
        </p:nvSpPr>
        <p:spPr>
          <a:xfrm>
            <a:off x="448056" y="28483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5528" y="2820924"/>
            <a:ext cx="132588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" y="284835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CAND_0027691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21408" y="2820924"/>
            <a:ext cx="16916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45" name="Text 43"/>
          <p:cNvSpPr/>
          <p:nvPr/>
        </p:nvSpPr>
        <p:spPr>
          <a:xfrm>
            <a:off x="2157984" y="284835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Goyal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13048" y="2820924"/>
            <a:ext cx="233172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47" name="Text 45"/>
          <p:cNvSpPr/>
          <p:nvPr/>
        </p:nvSpPr>
        <p:spPr>
          <a:xfrm>
            <a:off x="3849624" y="284835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44768" y="2820924"/>
            <a:ext cx="12344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49" name="Text 47"/>
          <p:cNvSpPr/>
          <p:nvPr/>
        </p:nvSpPr>
        <p:spPr>
          <a:xfrm>
            <a:off x="6181344" y="2848356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79208" y="2820924"/>
            <a:ext cx="804672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51" name="Text 49"/>
          <p:cNvSpPr/>
          <p:nvPr/>
        </p:nvSpPr>
        <p:spPr>
          <a:xfrm>
            <a:off x="7415784" y="28483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3063240"/>
            <a:ext cx="384048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3" name="Text 51"/>
          <p:cNvSpPr/>
          <p:nvPr/>
        </p:nvSpPr>
        <p:spPr>
          <a:xfrm>
            <a:off x="448056" y="3090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95528" y="3063240"/>
            <a:ext cx="132588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5" name="Text 53"/>
          <p:cNvSpPr/>
          <p:nvPr/>
        </p:nvSpPr>
        <p:spPr>
          <a:xfrm>
            <a:off x="832104" y="3090672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CAND_0037566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21408" y="3063240"/>
            <a:ext cx="16916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7" name="Text 55"/>
          <p:cNvSpPr/>
          <p:nvPr/>
        </p:nvSpPr>
        <p:spPr>
          <a:xfrm>
            <a:off x="2157984" y="3090672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Nair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13048" y="3063240"/>
            <a:ext cx="233172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9" name="Text 57"/>
          <p:cNvSpPr/>
          <p:nvPr/>
        </p:nvSpPr>
        <p:spPr>
          <a:xfrm>
            <a:off x="3849624" y="309067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44768" y="3063240"/>
            <a:ext cx="12344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61" name="Text 59"/>
          <p:cNvSpPr/>
          <p:nvPr/>
        </p:nvSpPr>
        <p:spPr>
          <a:xfrm>
            <a:off x="6181344" y="3090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79208" y="3063240"/>
            <a:ext cx="804672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63" name="Text 61"/>
          <p:cNvSpPr/>
          <p:nvPr/>
        </p:nvSpPr>
        <p:spPr>
          <a:xfrm>
            <a:off x="7415784" y="3090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3305556"/>
            <a:ext cx="384048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65" name="Text 63"/>
          <p:cNvSpPr/>
          <p:nvPr/>
        </p:nvSpPr>
        <p:spPr>
          <a:xfrm>
            <a:off x="448056" y="33329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5528" y="3305556"/>
            <a:ext cx="132588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67" name="Text 65"/>
          <p:cNvSpPr/>
          <p:nvPr/>
        </p:nvSpPr>
        <p:spPr>
          <a:xfrm>
            <a:off x="832104" y="333298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CAND_0011687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21408" y="3305556"/>
            <a:ext cx="16916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69" name="Text 67"/>
          <p:cNvSpPr/>
          <p:nvPr/>
        </p:nvSpPr>
        <p:spPr>
          <a:xfrm>
            <a:off x="2157984" y="333298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Tiwari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813048" y="3305556"/>
            <a:ext cx="233172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71" name="Text 69"/>
          <p:cNvSpPr/>
          <p:nvPr/>
        </p:nvSpPr>
        <p:spPr>
          <a:xfrm>
            <a:off x="3849624" y="3332988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NLP Engineer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44768" y="3305556"/>
            <a:ext cx="12344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73" name="Text 71"/>
          <p:cNvSpPr/>
          <p:nvPr/>
        </p:nvSpPr>
        <p:spPr>
          <a:xfrm>
            <a:off x="6181344" y="333298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379208" y="3305556"/>
            <a:ext cx="804672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75" name="Text 73"/>
          <p:cNvSpPr/>
          <p:nvPr/>
        </p:nvSpPr>
        <p:spPr>
          <a:xfrm>
            <a:off x="7415784" y="33329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93.98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11480" y="3547872"/>
            <a:ext cx="384048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77" name="Text 75"/>
          <p:cNvSpPr/>
          <p:nvPr/>
        </p:nvSpPr>
        <p:spPr>
          <a:xfrm>
            <a:off x="448056" y="3575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95528" y="3547872"/>
            <a:ext cx="132588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79" name="Text 77"/>
          <p:cNvSpPr/>
          <p:nvPr/>
        </p:nvSpPr>
        <p:spPr>
          <a:xfrm>
            <a:off x="832104" y="35753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CAND_0041610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121408" y="3547872"/>
            <a:ext cx="16916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81" name="Text 79"/>
          <p:cNvSpPr/>
          <p:nvPr/>
        </p:nvSpPr>
        <p:spPr>
          <a:xfrm>
            <a:off x="2157984" y="35753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Sethi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813048" y="3547872"/>
            <a:ext cx="233172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83" name="Text 81"/>
          <p:cNvSpPr/>
          <p:nvPr/>
        </p:nvSpPr>
        <p:spPr>
          <a:xfrm>
            <a:off x="3849624" y="357530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Eng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44768" y="3547872"/>
            <a:ext cx="12344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85" name="Text 83"/>
          <p:cNvSpPr/>
          <p:nvPr/>
        </p:nvSpPr>
        <p:spPr>
          <a:xfrm>
            <a:off x="6181344" y="3575304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379208" y="3547872"/>
            <a:ext cx="804672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87" name="Text 85"/>
          <p:cNvSpPr/>
          <p:nvPr/>
        </p:nvSpPr>
        <p:spPr>
          <a:xfrm>
            <a:off x="7415784" y="35753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93.77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11480" y="3790188"/>
            <a:ext cx="384048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89" name="Text 87"/>
          <p:cNvSpPr/>
          <p:nvPr/>
        </p:nvSpPr>
        <p:spPr>
          <a:xfrm>
            <a:off x="448056" y="381762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95528" y="3790188"/>
            <a:ext cx="132588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91" name="Text 89"/>
          <p:cNvSpPr/>
          <p:nvPr/>
        </p:nvSpPr>
        <p:spPr>
          <a:xfrm>
            <a:off x="832104" y="381762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CAND_0095812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121408" y="3790188"/>
            <a:ext cx="16916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93" name="Text 91"/>
          <p:cNvSpPr/>
          <p:nvPr/>
        </p:nvSpPr>
        <p:spPr>
          <a:xfrm>
            <a:off x="2157984" y="381762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Krishnan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813048" y="3790188"/>
            <a:ext cx="233172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95" name="Text 93"/>
          <p:cNvSpPr/>
          <p:nvPr/>
        </p:nvSpPr>
        <p:spPr>
          <a:xfrm>
            <a:off x="3849624" y="381762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Engineer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144768" y="3790188"/>
            <a:ext cx="12344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97" name="Text 95"/>
          <p:cNvSpPr/>
          <p:nvPr/>
        </p:nvSpPr>
        <p:spPr>
          <a:xfrm>
            <a:off x="6181344" y="381762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379208" y="3790188"/>
            <a:ext cx="804672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99" name="Text 97"/>
          <p:cNvSpPr/>
          <p:nvPr/>
        </p:nvSpPr>
        <p:spPr>
          <a:xfrm>
            <a:off x="7415784" y="38176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92.14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11480" y="4032504"/>
            <a:ext cx="384048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01" name="Text 99"/>
          <p:cNvSpPr/>
          <p:nvPr/>
        </p:nvSpPr>
        <p:spPr>
          <a:xfrm>
            <a:off x="448056" y="40599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95528" y="4032504"/>
            <a:ext cx="132588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03" name="Text 101"/>
          <p:cNvSpPr/>
          <p:nvPr/>
        </p:nvSpPr>
        <p:spPr>
          <a:xfrm>
            <a:off x="832104" y="405993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CAND_0018274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121408" y="4032504"/>
            <a:ext cx="16916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05" name="Text 103"/>
          <p:cNvSpPr/>
          <p:nvPr/>
        </p:nvSpPr>
        <p:spPr>
          <a:xfrm>
            <a:off x="2157984" y="405993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Iqbal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813048" y="4032504"/>
            <a:ext cx="233172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07" name="Text 105"/>
          <p:cNvSpPr/>
          <p:nvPr/>
        </p:nvSpPr>
        <p:spPr>
          <a:xfrm>
            <a:off x="3849624" y="405993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144768" y="4032504"/>
            <a:ext cx="12344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09" name="Text 107"/>
          <p:cNvSpPr/>
          <p:nvPr/>
        </p:nvSpPr>
        <p:spPr>
          <a:xfrm>
            <a:off x="6181344" y="4059936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379208" y="4032504"/>
            <a:ext cx="804672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11" name="Text 109"/>
          <p:cNvSpPr/>
          <p:nvPr/>
        </p:nvSpPr>
        <p:spPr>
          <a:xfrm>
            <a:off x="7415784" y="40599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91.85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11480" y="4274820"/>
            <a:ext cx="384048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13" name="Text 111"/>
          <p:cNvSpPr/>
          <p:nvPr/>
        </p:nvSpPr>
        <p:spPr>
          <a:xfrm>
            <a:off x="448056" y="43022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795528" y="4274820"/>
            <a:ext cx="132588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15" name="Text 113"/>
          <p:cNvSpPr/>
          <p:nvPr/>
        </p:nvSpPr>
        <p:spPr>
          <a:xfrm>
            <a:off x="832104" y="4302252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CAND_0067341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121408" y="4274820"/>
            <a:ext cx="16916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17" name="Text 115"/>
          <p:cNvSpPr/>
          <p:nvPr/>
        </p:nvSpPr>
        <p:spPr>
          <a:xfrm>
            <a:off x="2157984" y="4302252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Mehta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813048" y="4274820"/>
            <a:ext cx="233172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19" name="Text 117"/>
          <p:cNvSpPr/>
          <p:nvPr/>
        </p:nvSpPr>
        <p:spPr>
          <a:xfrm>
            <a:off x="3849624" y="430225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144768" y="4274820"/>
            <a:ext cx="12344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21" name="Text 119"/>
          <p:cNvSpPr/>
          <p:nvPr/>
        </p:nvSpPr>
        <p:spPr>
          <a:xfrm>
            <a:off x="6181344" y="430225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379208" y="4274820"/>
            <a:ext cx="804672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23" name="Text 121"/>
          <p:cNvSpPr/>
          <p:nvPr/>
        </p:nvSpPr>
        <p:spPr>
          <a:xfrm>
            <a:off x="7415784" y="43022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91.32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11480" y="4517136"/>
            <a:ext cx="384048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25" name="Text 123"/>
          <p:cNvSpPr/>
          <p:nvPr/>
        </p:nvSpPr>
        <p:spPr>
          <a:xfrm>
            <a:off x="448056" y="45445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95528" y="4517136"/>
            <a:ext cx="132588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27" name="Text 125"/>
          <p:cNvSpPr/>
          <p:nvPr/>
        </p:nvSpPr>
        <p:spPr>
          <a:xfrm>
            <a:off x="832104" y="454456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CAND_0031859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2121408" y="4517136"/>
            <a:ext cx="16916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29" name="Text 127"/>
          <p:cNvSpPr/>
          <p:nvPr/>
        </p:nvSpPr>
        <p:spPr>
          <a:xfrm>
            <a:off x="2157984" y="45445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Nambiar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813048" y="4517136"/>
            <a:ext cx="233172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31" name="Text 129"/>
          <p:cNvSpPr/>
          <p:nvPr/>
        </p:nvSpPr>
        <p:spPr>
          <a:xfrm>
            <a:off x="3849624" y="4544568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Specialist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144768" y="4517136"/>
            <a:ext cx="1234440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33" name="Text 131"/>
          <p:cNvSpPr/>
          <p:nvPr/>
        </p:nvSpPr>
        <p:spPr>
          <a:xfrm>
            <a:off x="6181344" y="454456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7379208" y="4517136"/>
            <a:ext cx="804672" cy="23317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35" name="Text 133"/>
          <p:cNvSpPr/>
          <p:nvPr/>
        </p:nvSpPr>
        <p:spPr>
          <a:xfrm>
            <a:off x="7415784" y="4544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90.77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411480" y="4759452"/>
            <a:ext cx="384048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37" name="Text 135"/>
          <p:cNvSpPr/>
          <p:nvPr/>
        </p:nvSpPr>
        <p:spPr>
          <a:xfrm>
            <a:off x="448056" y="47868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795528" y="4759452"/>
            <a:ext cx="132588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39" name="Text 137"/>
          <p:cNvSpPr/>
          <p:nvPr/>
        </p:nvSpPr>
        <p:spPr>
          <a:xfrm>
            <a:off x="832104" y="478688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CAND_0048203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2121408" y="4759452"/>
            <a:ext cx="16916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41" name="Text 139"/>
          <p:cNvSpPr/>
          <p:nvPr/>
        </p:nvSpPr>
        <p:spPr>
          <a:xfrm>
            <a:off x="2157984" y="478688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Subbu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3813048" y="4759452"/>
            <a:ext cx="233172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43" name="Text 141"/>
          <p:cNvSpPr/>
          <p:nvPr/>
        </p:nvSpPr>
        <p:spPr>
          <a:xfrm>
            <a:off x="3849624" y="478688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Engineer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144768" y="4759452"/>
            <a:ext cx="1234440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45" name="Text 143"/>
          <p:cNvSpPr/>
          <p:nvPr/>
        </p:nvSpPr>
        <p:spPr>
          <a:xfrm>
            <a:off x="6181344" y="4786884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7379208" y="4759452"/>
            <a:ext cx="804672" cy="233172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147" name="Text 145"/>
          <p:cNvSpPr/>
          <p:nvPr/>
        </p:nvSpPr>
        <p:spPr>
          <a:xfrm>
            <a:off x="7415784" y="47868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Sandbox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UI — one-click ranking + AI-powered recruiter explanations via Claude claude-sonnet-4-6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3200400"/>
          </a:xfrm>
          <a:prstGeom prst="roundRect">
            <a:avLst>
              <a:gd name="adj" fmla="val 4286"/>
            </a:avLst>
          </a:prstGeom>
          <a:solidFill>
            <a:srgbClr val="12151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8321040" cy="411480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52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RedrRob  AI Ranker  •  Candidate Intelligence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280160" cy="320040"/>
          </a:xfrm>
          <a:prstGeom prst="roundRect">
            <a:avLst>
              <a:gd name="adj" fmla="val 20000"/>
            </a:avLst>
          </a:prstGeom>
          <a:solidFill>
            <a:srgbClr val="5C6FF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Run Ranking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5C6FF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214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21031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21214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1031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1214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≤30d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1214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Only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487168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22263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5C6FF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0604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Banerjee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852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Eng · Pune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261518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98.26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2226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40156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5C6FF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Goyal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Engineer · Pune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4198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11480" y="4462272"/>
            <a:ext cx="8321040" cy="502920"/>
          </a:xfrm>
          <a:prstGeom prst="roundRect">
            <a:avLst>
              <a:gd name="adj" fmla="val 18182"/>
            </a:avLst>
          </a:prstGeom>
          <a:solidFill>
            <a:srgbClr val="12151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50799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Explain: Click any candidate card → Claude claude-sonnet-4-6 gives a recruiter-readable explanation of why they ranked there and what to probe in the interview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1E276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adversarial-aware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721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keyword stuffers, hype adopters, honeypots, consulting lifers, and narrow specialists — all documented in the challenge spec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911096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1E2761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025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975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30 seconds on CPU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external API calls during ranking. 100k candidates, one command.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679192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1E2761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706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by 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008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 has a reasoning column. Every score has 7 decomposed components visible in the CSV.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447288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1E2761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38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for recruiters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7764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 explains each candidate in plain English, on demand, in the sandbox UI.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215384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1E2761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06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5445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jd_config.py for a new role in minutes. Add semantic similarity or LLM re-ranking as optional stages.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4ECDC4">
              <a:alpha val="1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Runs Data &amp; AI Challenge — Candidate Ranking System</dc:title>
  <dc:subject>PptxGenJS Presentation</dc:subject>
  <dc:creator>RedrRob AI Ranker</dc:creator>
  <cp:lastModifiedBy>RedrRob AI Ranker</cp:lastModifiedBy>
  <cp:revision>1</cp:revision>
  <dcterms:created xsi:type="dcterms:W3CDTF">2026-07-01T07:56:46Z</dcterms:created>
  <dcterms:modified xsi:type="dcterms:W3CDTF">2026-07-01T07:56:46Z</dcterms:modified>
</cp:coreProperties>
</file>